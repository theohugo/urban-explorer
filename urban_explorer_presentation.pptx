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66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939866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D760A4-5D52-5163-4E54-F9F82DDD0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8820B9-4F97-6214-7369-7478B214AB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C7FD098-470E-44CF-A40C-32AA9AF2811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01DDB93-E7D5-0CA6-7250-D31E14FF2A1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275938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3200400" y="1097280"/>
            <a:ext cx="5486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Explorer</a:t>
            </a:r>
            <a:endParaRPr lang="en-US" sz="4800" dirty="0"/>
          </a:p>
        </p:txBody>
      </p:sp>
      <p:sp>
        <p:nvSpPr>
          <p:cNvPr id="5" name="Text 3"/>
          <p:cNvSpPr/>
          <p:nvPr/>
        </p:nvSpPr>
        <p:spPr>
          <a:xfrm>
            <a:off x="3200400" y="219456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mobile culturelle - Expo / React Native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CADINOT A.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400" y="356616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RAGUIN Hugo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FIORESE Elliot</a:t>
            </a:r>
            <a:endParaRPr lang="en-US" sz="1600" dirty="0"/>
          </a:p>
          <a:p>
            <a:pPr marL="0" indent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TALEB Amine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379476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[DIS] MIA4 27.1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de la présentation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0" y="1097280"/>
            <a:ext cx="502920" cy="502920"/>
          </a:xfrm>
          <a:prstGeom prst="rect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6459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2240280" y="1143000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645920" y="1901952"/>
            <a:ext cx="502920" cy="502920"/>
          </a:xfrm>
          <a:prstGeom prst="rect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9" name="Text 7"/>
          <p:cNvSpPr/>
          <p:nvPr/>
        </p:nvSpPr>
        <p:spPr>
          <a:xfrm>
            <a:off x="164592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240280" y="1947672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stack technique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645920" y="2706624"/>
            <a:ext cx="502920" cy="502920"/>
          </a:xfrm>
          <a:prstGeom prst="rect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2" name="Text 10"/>
          <p:cNvSpPr/>
          <p:nvPr/>
        </p:nvSpPr>
        <p:spPr>
          <a:xfrm>
            <a:off x="164592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240280" y="2752344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Decouverte &amp; detail lieu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1645920" y="3511296"/>
            <a:ext cx="502920" cy="502920"/>
          </a:xfrm>
          <a:prstGeom prst="rect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1645920" y="3511296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240280" y="3557016"/>
            <a:ext cx="2468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Evenements &amp; carte interactive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303520" y="1097280"/>
            <a:ext cx="502920" cy="502920"/>
          </a:xfrm>
          <a:prstGeom prst="rect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5303520" y="1097280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5897880" y="1143000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souvenirs &amp; persistance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5303520" y="1901952"/>
            <a:ext cx="502920" cy="502920"/>
          </a:xfrm>
          <a:prstGeom prst="rect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1" name="Text 19"/>
          <p:cNvSpPr/>
          <p:nvPr/>
        </p:nvSpPr>
        <p:spPr>
          <a:xfrm>
            <a:off x="5303520" y="1901952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897880" y="1947672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fait en plus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5303520" y="2706624"/>
            <a:ext cx="502920" cy="502920"/>
          </a:xfrm>
          <a:prstGeom prst="rect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Text 22"/>
          <p:cNvSpPr/>
          <p:nvPr/>
        </p:nvSpPr>
        <p:spPr>
          <a:xfrm>
            <a:off x="5303520" y="2706624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5897880" y="2752344"/>
            <a:ext cx="29260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bilan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327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9810727-B844-7796-FEB1-33484D7E35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616EFF07-A95E-666C-ED35-797F5483F0B0}"/>
              </a:ext>
            </a:extLst>
          </p:cNvPr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20983554-C49E-9047-B00B-E7EE77ED4DC7}"/>
              </a:ext>
            </a:extLst>
          </p:cNvPr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5F2B356A-6AEC-D1D7-1F34-D4D6F8589070}"/>
              </a:ext>
            </a:extLst>
          </p:cNvPr>
          <p:cNvSpPr/>
          <p:nvPr/>
        </p:nvSpPr>
        <p:spPr>
          <a:xfrm>
            <a:off x="164592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Répartition</a:t>
            </a:r>
            <a:endParaRPr lang="en-US" sz="3000" dirty="0"/>
          </a:p>
        </p:txBody>
      </p:sp>
      <p:sp>
        <p:nvSpPr>
          <p:cNvPr id="45" name="Shape 3">
            <a:extLst>
              <a:ext uri="{FF2B5EF4-FFF2-40B4-BE49-F238E27FC236}">
                <a16:creationId xmlns:a16="http://schemas.microsoft.com/office/drawing/2014/main" id="{E8E5DF9B-22A7-D7E1-70EA-DCE24EEC0B6D}"/>
              </a:ext>
            </a:extLst>
          </p:cNvPr>
          <p:cNvSpPr/>
          <p:nvPr/>
        </p:nvSpPr>
        <p:spPr>
          <a:xfrm>
            <a:off x="1005840" y="1611630"/>
            <a:ext cx="2377440" cy="274320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6" name="Shape 4">
            <a:extLst>
              <a:ext uri="{FF2B5EF4-FFF2-40B4-BE49-F238E27FC236}">
                <a16:creationId xmlns:a16="http://schemas.microsoft.com/office/drawing/2014/main" id="{CA1CE807-8F9D-B880-9DE4-86E228481938}"/>
              </a:ext>
            </a:extLst>
          </p:cNvPr>
          <p:cNvSpPr/>
          <p:nvPr/>
        </p:nvSpPr>
        <p:spPr>
          <a:xfrm>
            <a:off x="1005840" y="1611630"/>
            <a:ext cx="2377440" cy="411480"/>
          </a:xfrm>
          <a:prstGeom prst="rect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7" name="Text 5">
            <a:extLst>
              <a:ext uri="{FF2B5EF4-FFF2-40B4-BE49-F238E27FC236}">
                <a16:creationId xmlns:a16="http://schemas.microsoft.com/office/drawing/2014/main" id="{09BCA0B5-81B6-132A-5044-FEF46E891143}"/>
              </a:ext>
            </a:extLst>
          </p:cNvPr>
          <p:cNvSpPr/>
          <p:nvPr/>
        </p:nvSpPr>
        <p:spPr>
          <a:xfrm>
            <a:off x="1005840" y="161163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RAGUIN Hugo</a:t>
            </a:r>
            <a:endParaRPr lang="en-US" sz="1300" dirty="0"/>
          </a:p>
        </p:txBody>
      </p:sp>
      <p:sp>
        <p:nvSpPr>
          <p:cNvPr id="48" name="Text 6">
            <a:extLst>
              <a:ext uri="{FF2B5EF4-FFF2-40B4-BE49-F238E27FC236}">
                <a16:creationId xmlns:a16="http://schemas.microsoft.com/office/drawing/2014/main" id="{24490778-826F-7D6F-D886-633AA4F53B87}"/>
              </a:ext>
            </a:extLst>
          </p:cNvPr>
          <p:cNvSpPr/>
          <p:nvPr/>
        </p:nvSpPr>
        <p:spPr>
          <a:xfrm>
            <a:off x="1143000" y="2114550"/>
            <a:ext cx="224028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Initialisation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+ Architecture</a:t>
            </a:r>
            <a:endParaRPr lang="en-US" sz="1200" dirty="0"/>
          </a:p>
        </p:txBody>
      </p:sp>
      <p:sp>
        <p:nvSpPr>
          <p:cNvPr id="49" name="Text 7">
            <a:extLst>
              <a:ext uri="{FF2B5EF4-FFF2-40B4-BE49-F238E27FC236}">
                <a16:creationId xmlns:a16="http://schemas.microsoft.com/office/drawing/2014/main" id="{431B3A10-ADDD-4197-CD87-9E5B8BACE20D}"/>
              </a:ext>
            </a:extLst>
          </p:cNvPr>
          <p:cNvSpPr/>
          <p:nvPr/>
        </p:nvSpPr>
        <p:spPr>
          <a:xfrm>
            <a:off x="1143000" y="261747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TypeScript - données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mockées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- API</a:t>
            </a:r>
            <a:endParaRPr lang="en-US" sz="1200" dirty="0"/>
          </a:p>
        </p:txBody>
      </p:sp>
      <p:sp>
        <p:nvSpPr>
          <p:cNvPr id="50" name="Text 8">
            <a:extLst>
              <a:ext uri="{FF2B5EF4-FFF2-40B4-BE49-F238E27FC236}">
                <a16:creationId xmlns:a16="http://schemas.microsoft.com/office/drawing/2014/main" id="{0069C402-3276-502A-3212-F9E7DD707695}"/>
              </a:ext>
            </a:extLst>
          </p:cNvPr>
          <p:cNvSpPr/>
          <p:nvPr/>
        </p:nvSpPr>
        <p:spPr>
          <a:xfrm>
            <a:off x="1143000" y="312039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Gestion Lieux + </a:t>
            </a:r>
            <a:r>
              <a:rPr lang="en-US" sz="12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Evenements</a:t>
            </a:r>
            <a:endParaRPr lang="en-US" sz="1200" dirty="0"/>
          </a:p>
        </p:txBody>
      </p:sp>
      <p:sp>
        <p:nvSpPr>
          <p:cNvPr id="51" name="Text 9">
            <a:extLst>
              <a:ext uri="{FF2B5EF4-FFF2-40B4-BE49-F238E27FC236}">
                <a16:creationId xmlns:a16="http://schemas.microsoft.com/office/drawing/2014/main" id="{836A0E9A-0809-4EFC-59DD-1028642405C5}"/>
              </a:ext>
            </a:extLst>
          </p:cNvPr>
          <p:cNvSpPr/>
          <p:nvPr/>
        </p:nvSpPr>
        <p:spPr>
          <a:xfrm>
            <a:off x="1143000" y="362331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en-US" sz="1200" dirty="0"/>
          </a:p>
        </p:txBody>
      </p:sp>
      <p:sp>
        <p:nvSpPr>
          <p:cNvPr id="52" name="Shape 10">
            <a:extLst>
              <a:ext uri="{FF2B5EF4-FFF2-40B4-BE49-F238E27FC236}">
                <a16:creationId xmlns:a16="http://schemas.microsoft.com/office/drawing/2014/main" id="{FA5D70F6-7318-D6E4-E0F5-B169BFB05954}"/>
              </a:ext>
            </a:extLst>
          </p:cNvPr>
          <p:cNvSpPr/>
          <p:nvPr/>
        </p:nvSpPr>
        <p:spPr>
          <a:xfrm>
            <a:off x="3566160" y="1611630"/>
            <a:ext cx="2377440" cy="274320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3" name="Shape 11">
            <a:extLst>
              <a:ext uri="{FF2B5EF4-FFF2-40B4-BE49-F238E27FC236}">
                <a16:creationId xmlns:a16="http://schemas.microsoft.com/office/drawing/2014/main" id="{544B2ED9-7CD3-1238-9D37-3667BA8E84EA}"/>
              </a:ext>
            </a:extLst>
          </p:cNvPr>
          <p:cNvSpPr/>
          <p:nvPr/>
        </p:nvSpPr>
        <p:spPr>
          <a:xfrm>
            <a:off x="3566160" y="1611630"/>
            <a:ext cx="2377440" cy="411480"/>
          </a:xfrm>
          <a:prstGeom prst="rect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4" name="Text 12">
            <a:extLst>
              <a:ext uri="{FF2B5EF4-FFF2-40B4-BE49-F238E27FC236}">
                <a16:creationId xmlns:a16="http://schemas.microsoft.com/office/drawing/2014/main" id="{1AEAA0A8-D940-D2E2-2D1F-0C236CCD1A5B}"/>
              </a:ext>
            </a:extLst>
          </p:cNvPr>
          <p:cNvSpPr/>
          <p:nvPr/>
        </p:nvSpPr>
        <p:spPr>
          <a:xfrm>
            <a:off x="3566160" y="161163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FIORESE Elliot</a:t>
            </a:r>
            <a:endParaRPr lang="en-US" sz="1300" dirty="0"/>
          </a:p>
        </p:txBody>
      </p:sp>
      <p:sp>
        <p:nvSpPr>
          <p:cNvPr id="55" name="Text 13">
            <a:extLst>
              <a:ext uri="{FF2B5EF4-FFF2-40B4-BE49-F238E27FC236}">
                <a16:creationId xmlns:a16="http://schemas.microsoft.com/office/drawing/2014/main" id="{6ED15D44-40A9-DD84-0347-3EF9D2F394B9}"/>
              </a:ext>
            </a:extLst>
          </p:cNvPr>
          <p:cNvSpPr/>
          <p:nvPr/>
        </p:nvSpPr>
        <p:spPr>
          <a:xfrm>
            <a:off x="3703320" y="211455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Composants UI</a:t>
            </a:r>
            <a:endParaRPr lang="en-US" sz="1200" dirty="0"/>
          </a:p>
        </p:txBody>
      </p:sp>
      <p:sp>
        <p:nvSpPr>
          <p:cNvPr id="58" name="Text 16">
            <a:extLst>
              <a:ext uri="{FF2B5EF4-FFF2-40B4-BE49-F238E27FC236}">
                <a16:creationId xmlns:a16="http://schemas.microsoft.com/office/drawing/2014/main" id="{55CD21ED-4B8C-E23A-4C56-1396247F5C2B}"/>
              </a:ext>
            </a:extLst>
          </p:cNvPr>
          <p:cNvSpPr/>
          <p:nvPr/>
        </p:nvSpPr>
        <p:spPr>
          <a:xfrm>
            <a:off x="3703320" y="257175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Gestion Profile</a:t>
            </a:r>
            <a:endParaRPr lang="en-US" sz="1200" dirty="0"/>
          </a:p>
        </p:txBody>
      </p:sp>
      <p:sp>
        <p:nvSpPr>
          <p:cNvPr id="59" name="Shape 17">
            <a:extLst>
              <a:ext uri="{FF2B5EF4-FFF2-40B4-BE49-F238E27FC236}">
                <a16:creationId xmlns:a16="http://schemas.microsoft.com/office/drawing/2014/main" id="{58B00891-D36B-660C-FE1A-55B51EC32F28}"/>
              </a:ext>
            </a:extLst>
          </p:cNvPr>
          <p:cNvSpPr/>
          <p:nvPr/>
        </p:nvSpPr>
        <p:spPr>
          <a:xfrm>
            <a:off x="6126480" y="1611630"/>
            <a:ext cx="2377440" cy="274320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Shape 18">
            <a:extLst>
              <a:ext uri="{FF2B5EF4-FFF2-40B4-BE49-F238E27FC236}">
                <a16:creationId xmlns:a16="http://schemas.microsoft.com/office/drawing/2014/main" id="{F45FBDD5-EC80-83EC-EBC8-A271C71CA597}"/>
              </a:ext>
            </a:extLst>
          </p:cNvPr>
          <p:cNvSpPr/>
          <p:nvPr/>
        </p:nvSpPr>
        <p:spPr>
          <a:xfrm>
            <a:off x="6126480" y="1611630"/>
            <a:ext cx="2377440" cy="411480"/>
          </a:xfrm>
          <a:prstGeom prst="rect">
            <a:avLst/>
          </a:prstGeom>
          <a:solidFill>
            <a:srgbClr val="F5A623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1" name="Text 19">
            <a:extLst>
              <a:ext uri="{FF2B5EF4-FFF2-40B4-BE49-F238E27FC236}">
                <a16:creationId xmlns:a16="http://schemas.microsoft.com/office/drawing/2014/main" id="{02BCB50A-B614-851D-308C-C8FB56F26682}"/>
              </a:ext>
            </a:extLst>
          </p:cNvPr>
          <p:cNvSpPr/>
          <p:nvPr/>
        </p:nvSpPr>
        <p:spPr>
          <a:xfrm>
            <a:off x="6126480" y="161163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TALEB Amine</a:t>
            </a:r>
            <a:endParaRPr lang="en-US" sz="1300" dirty="0"/>
          </a:p>
        </p:txBody>
      </p:sp>
      <p:sp>
        <p:nvSpPr>
          <p:cNvPr id="62" name="Text 20">
            <a:extLst>
              <a:ext uri="{FF2B5EF4-FFF2-40B4-BE49-F238E27FC236}">
                <a16:creationId xmlns:a16="http://schemas.microsoft.com/office/drawing/2014/main" id="{2C58613A-423B-5FB1-02C9-29BF2FEE47CD}"/>
              </a:ext>
            </a:extLst>
          </p:cNvPr>
          <p:cNvSpPr/>
          <p:nvPr/>
        </p:nvSpPr>
        <p:spPr>
          <a:xfrm>
            <a:off x="6263640" y="211455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Navigation React Nav.</a:t>
            </a:r>
            <a:endParaRPr lang="en-US" sz="1200" dirty="0"/>
          </a:p>
        </p:txBody>
      </p:sp>
      <p:sp>
        <p:nvSpPr>
          <p:cNvPr id="63" name="Text 21">
            <a:extLst>
              <a:ext uri="{FF2B5EF4-FFF2-40B4-BE49-F238E27FC236}">
                <a16:creationId xmlns:a16="http://schemas.microsoft.com/office/drawing/2014/main" id="{04FA0471-37D5-7639-627C-330165DB8A96}"/>
              </a:ext>
            </a:extLst>
          </p:cNvPr>
          <p:cNvSpPr/>
          <p:nvPr/>
        </p:nvSpPr>
        <p:spPr>
          <a:xfrm>
            <a:off x="6263640" y="261747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Gestion de la Map</a:t>
            </a:r>
            <a:endParaRPr lang="en-US" sz="1200" dirty="0"/>
          </a:p>
        </p:txBody>
      </p:sp>
      <p:sp>
        <p:nvSpPr>
          <p:cNvPr id="1027" name="Text 16">
            <a:extLst>
              <a:ext uri="{FF2B5EF4-FFF2-40B4-BE49-F238E27FC236}">
                <a16:creationId xmlns:a16="http://schemas.microsoft.com/office/drawing/2014/main" id="{29135D62-A2AA-1E91-30E0-E8BF4BE6DA33}"/>
              </a:ext>
            </a:extLst>
          </p:cNvPr>
          <p:cNvSpPr/>
          <p:nvPr/>
        </p:nvSpPr>
        <p:spPr>
          <a:xfrm>
            <a:off x="3703320" y="2996837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Gestion Souvenirs</a:t>
            </a:r>
            <a:endParaRPr lang="en-US" sz="1200" dirty="0"/>
          </a:p>
        </p:txBody>
      </p:sp>
      <p:sp>
        <p:nvSpPr>
          <p:cNvPr id="1028" name="Text 8">
            <a:extLst>
              <a:ext uri="{FF2B5EF4-FFF2-40B4-BE49-F238E27FC236}">
                <a16:creationId xmlns:a16="http://schemas.microsoft.com/office/drawing/2014/main" id="{F38794E1-6026-E132-1D40-114567E6E5AD}"/>
              </a:ext>
            </a:extLst>
          </p:cNvPr>
          <p:cNvSpPr/>
          <p:nvPr/>
        </p:nvSpPr>
        <p:spPr>
          <a:xfrm>
            <a:off x="1143000" y="353187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Slide présentation</a:t>
            </a:r>
            <a:endParaRPr lang="en-US" sz="1200" dirty="0"/>
          </a:p>
        </p:txBody>
      </p:sp>
      <p:sp>
        <p:nvSpPr>
          <p:cNvPr id="1029" name="Text 21">
            <a:extLst>
              <a:ext uri="{FF2B5EF4-FFF2-40B4-BE49-F238E27FC236}">
                <a16:creationId xmlns:a16="http://schemas.microsoft.com/office/drawing/2014/main" id="{44E1543A-5512-F811-0943-71EE984B22B0}"/>
              </a:ext>
            </a:extLst>
          </p:cNvPr>
          <p:cNvSpPr/>
          <p:nvPr/>
        </p:nvSpPr>
        <p:spPr>
          <a:xfrm>
            <a:off x="6263640" y="3028950"/>
            <a:ext cx="2103120" cy="4114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Redaction du ReadMe</a:t>
            </a:r>
            <a:endParaRPr lang="en-US" sz="1200" dirty="0"/>
          </a:p>
        </p:txBody>
      </p:sp>
    </p:spTree>
    <p:extLst>
      <p:ext uri="{BB962C8B-B14F-4D97-AF65-F5344CB8AC3E}">
        <p14:creationId xmlns:p14="http://schemas.microsoft.com/office/powerpoint/2010/main" val="17742701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&amp; Objectifs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1645920" y="1051560"/>
            <a:ext cx="7132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Explorer est une application mobile culturelle permettant de :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645920" y="1645920"/>
            <a:ext cx="457200" cy="457200"/>
          </a:xfrm>
          <a:prstGeom prst="ellipse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9072" y="1691640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2240280" y="169164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Decouvrir des lieux et evenements culturels a Paris</a:t>
            </a:r>
            <a:endParaRPr lang="en-US" sz="1500" dirty="0"/>
          </a:p>
        </p:txBody>
      </p:sp>
      <p:sp>
        <p:nvSpPr>
          <p:cNvPr id="9" name="Shape 6"/>
          <p:cNvSpPr/>
          <p:nvPr/>
        </p:nvSpPr>
        <p:spPr>
          <a:xfrm>
            <a:off x="1645920" y="2423160"/>
            <a:ext cx="457200" cy="457200"/>
          </a:xfrm>
          <a:prstGeom prst="ellipse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19072" y="2468880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240280" y="24688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Rechercher et filtrer les resultats en temps reel</a:t>
            </a:r>
            <a:endParaRPr lang="en-US" sz="1500" dirty="0"/>
          </a:p>
        </p:txBody>
      </p:sp>
      <p:sp>
        <p:nvSpPr>
          <p:cNvPr id="12" name="Shape 8"/>
          <p:cNvSpPr/>
          <p:nvPr/>
        </p:nvSpPr>
        <p:spPr>
          <a:xfrm>
            <a:off x="1645920" y="3200400"/>
            <a:ext cx="457200" cy="457200"/>
          </a:xfrm>
          <a:prstGeom prst="ellipse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9072" y="324612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2240280" y="324612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Visualiser les lieux sur une carte et se geolocaliser</a:t>
            </a:r>
            <a:endParaRPr lang="en-US" sz="1500" dirty="0"/>
          </a:p>
        </p:txBody>
      </p:sp>
      <p:sp>
        <p:nvSpPr>
          <p:cNvPr id="15" name="Shape 10"/>
          <p:cNvSpPr/>
          <p:nvPr/>
        </p:nvSpPr>
        <p:spPr>
          <a:xfrm>
            <a:off x="1645920" y="3977640"/>
            <a:ext cx="457200" cy="457200"/>
          </a:xfrm>
          <a:prstGeom prst="ellipse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719072" y="4023360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2240280" y="402336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Planifier une visite et conserver des souvenirs photo</a:t>
            </a:r>
            <a:endParaRPr lang="en-US" sz="1500" dirty="0"/>
          </a:p>
        </p:txBody>
      </p:sp>
      <p:sp>
        <p:nvSpPr>
          <p:cNvPr id="18" name="Shape 12"/>
          <p:cNvSpPr/>
          <p:nvPr/>
        </p:nvSpPr>
        <p:spPr>
          <a:xfrm>
            <a:off x="1645920" y="4572000"/>
            <a:ext cx="7132320" cy="36576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9" name="Text 13"/>
          <p:cNvSpPr/>
          <p:nvPr/>
        </p:nvSpPr>
        <p:spPr>
          <a:xfrm>
            <a:off x="1737360" y="4617720"/>
            <a:ext cx="69494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: Paris Data - dataset Que faire a Paris  |  Expo + React Native + TypeScript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Shape 0">
            <a:extLst>
              <a:ext uri="{FF2B5EF4-FFF2-40B4-BE49-F238E27FC236}">
                <a16:creationId xmlns:a16="http://schemas.microsoft.com/office/drawing/2014/main" id="{827796A4-86EE-4066-9901-22F8769A7357}"/>
              </a:ext>
            </a:extLst>
          </p:cNvPr>
          <p:cNvSpPr/>
          <p:nvPr/>
        </p:nvSpPr>
        <p:spPr>
          <a:xfrm>
            <a:off x="-45720" y="-259625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Shape 1">
            <a:extLst>
              <a:ext uri="{FF2B5EF4-FFF2-40B4-BE49-F238E27FC236}">
                <a16:creationId xmlns:a16="http://schemas.microsoft.com/office/drawing/2014/main" id="{1B091C6B-2997-DA5E-559C-80F806D9E9BA}"/>
              </a:ext>
            </a:extLst>
          </p:cNvPr>
          <p:cNvSpPr/>
          <p:nvPr/>
        </p:nvSpPr>
        <p:spPr>
          <a:xfrm>
            <a:off x="320040" y="-259625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3" name="Text 2">
            <a:extLst>
              <a:ext uri="{FF2B5EF4-FFF2-40B4-BE49-F238E27FC236}">
                <a16:creationId xmlns:a16="http://schemas.microsoft.com/office/drawing/2014/main" id="{BDCB5912-A5C8-5B9B-4397-26D749266E67}"/>
              </a:ext>
            </a:extLst>
          </p:cNvPr>
          <p:cNvSpPr/>
          <p:nvPr/>
        </p:nvSpPr>
        <p:spPr>
          <a:xfrm>
            <a:off x="1874520" y="289015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de l'application</a:t>
            </a:r>
            <a:endParaRPr lang="en-US" sz="3000" dirty="0"/>
          </a:p>
        </p:txBody>
      </p:sp>
      <p:sp>
        <p:nvSpPr>
          <p:cNvPr id="34" name="Shape 3">
            <a:extLst>
              <a:ext uri="{FF2B5EF4-FFF2-40B4-BE49-F238E27FC236}">
                <a16:creationId xmlns:a16="http://schemas.microsoft.com/office/drawing/2014/main" id="{BC0BA44B-C6D7-0E89-71BF-0832A118F530}"/>
              </a:ext>
            </a:extLst>
          </p:cNvPr>
          <p:cNvSpPr/>
          <p:nvPr/>
        </p:nvSpPr>
        <p:spPr>
          <a:xfrm>
            <a:off x="3429000" y="974815"/>
            <a:ext cx="2743200" cy="502920"/>
          </a:xfrm>
          <a:prstGeom prst="rect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5" name="Text 4">
            <a:extLst>
              <a:ext uri="{FF2B5EF4-FFF2-40B4-BE49-F238E27FC236}">
                <a16:creationId xmlns:a16="http://schemas.microsoft.com/office/drawing/2014/main" id="{45195A15-F527-3497-BCAE-7D1BEDBAAB25}"/>
              </a:ext>
            </a:extLst>
          </p:cNvPr>
          <p:cNvSpPr/>
          <p:nvPr/>
        </p:nvSpPr>
        <p:spPr>
          <a:xfrm>
            <a:off x="3429000" y="974815"/>
            <a:ext cx="2743200" cy="50292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 Tab Navigator</a:t>
            </a:r>
            <a:endParaRPr lang="en-US" sz="1200" dirty="0"/>
          </a:p>
        </p:txBody>
      </p:sp>
      <p:sp>
        <p:nvSpPr>
          <p:cNvPr id="36" name="Shape 5">
            <a:extLst>
              <a:ext uri="{FF2B5EF4-FFF2-40B4-BE49-F238E27FC236}">
                <a16:creationId xmlns:a16="http://schemas.microsoft.com/office/drawing/2014/main" id="{0D435033-F450-6887-C163-965C875146BF}"/>
              </a:ext>
            </a:extLst>
          </p:cNvPr>
          <p:cNvSpPr/>
          <p:nvPr/>
        </p:nvSpPr>
        <p:spPr>
          <a:xfrm>
            <a:off x="1417320" y="1477735"/>
            <a:ext cx="6172200" cy="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7" name="Shape 6">
            <a:extLst>
              <a:ext uri="{FF2B5EF4-FFF2-40B4-BE49-F238E27FC236}">
                <a16:creationId xmlns:a16="http://schemas.microsoft.com/office/drawing/2014/main" id="{95785464-4B88-D013-7AA3-B2AE5C7CA11A}"/>
              </a:ext>
            </a:extLst>
          </p:cNvPr>
          <p:cNvSpPr/>
          <p:nvPr/>
        </p:nvSpPr>
        <p:spPr>
          <a:xfrm>
            <a:off x="1417320" y="1477735"/>
            <a:ext cx="0" cy="36576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8" name="Shape 7">
            <a:extLst>
              <a:ext uri="{FF2B5EF4-FFF2-40B4-BE49-F238E27FC236}">
                <a16:creationId xmlns:a16="http://schemas.microsoft.com/office/drawing/2014/main" id="{B4B513CD-0029-D39F-9CFA-9087A8DE1E75}"/>
              </a:ext>
            </a:extLst>
          </p:cNvPr>
          <p:cNvSpPr/>
          <p:nvPr/>
        </p:nvSpPr>
        <p:spPr>
          <a:xfrm>
            <a:off x="3474720" y="1477735"/>
            <a:ext cx="0" cy="36576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39" name="Shape 8">
            <a:extLst>
              <a:ext uri="{FF2B5EF4-FFF2-40B4-BE49-F238E27FC236}">
                <a16:creationId xmlns:a16="http://schemas.microsoft.com/office/drawing/2014/main" id="{C7C4D9A1-F88A-C55E-B71C-F2BB6B2686D7}"/>
              </a:ext>
            </a:extLst>
          </p:cNvPr>
          <p:cNvSpPr/>
          <p:nvPr/>
        </p:nvSpPr>
        <p:spPr>
          <a:xfrm>
            <a:off x="5532120" y="1477735"/>
            <a:ext cx="0" cy="36576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0" name="Shape 9">
            <a:extLst>
              <a:ext uri="{FF2B5EF4-FFF2-40B4-BE49-F238E27FC236}">
                <a16:creationId xmlns:a16="http://schemas.microsoft.com/office/drawing/2014/main" id="{73D9E54B-4960-33DA-AAFC-C4B14C0A1993}"/>
              </a:ext>
            </a:extLst>
          </p:cNvPr>
          <p:cNvSpPr/>
          <p:nvPr/>
        </p:nvSpPr>
        <p:spPr>
          <a:xfrm>
            <a:off x="7589520" y="1477735"/>
            <a:ext cx="0" cy="36576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826BB81B-B5EA-4EDA-E583-F0B7FA8B5AD8}"/>
              </a:ext>
            </a:extLst>
          </p:cNvPr>
          <p:cNvSpPr/>
          <p:nvPr/>
        </p:nvSpPr>
        <p:spPr>
          <a:xfrm>
            <a:off x="457200" y="1843495"/>
            <a:ext cx="1920240" cy="548640"/>
          </a:xfrm>
          <a:prstGeom prst="rect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36F29798-1A30-8300-F336-478B9E4F174D}"/>
              </a:ext>
            </a:extLst>
          </p:cNvPr>
          <p:cNvSpPr/>
          <p:nvPr/>
        </p:nvSpPr>
        <p:spPr>
          <a:xfrm>
            <a:off x="457200" y="1843495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Découverte</a:t>
            </a:r>
            <a:endParaRPr lang="en-US" sz="1300" dirty="0"/>
          </a:p>
        </p:txBody>
      </p:sp>
      <p:sp>
        <p:nvSpPr>
          <p:cNvPr id="43" name="Text 12">
            <a:extLst>
              <a:ext uri="{FF2B5EF4-FFF2-40B4-BE49-F238E27FC236}">
                <a16:creationId xmlns:a16="http://schemas.microsoft.com/office/drawing/2014/main" id="{F470E56C-6E75-EA1D-5E9A-2E16D8731A8F}"/>
              </a:ext>
            </a:extLst>
          </p:cNvPr>
          <p:cNvSpPr/>
          <p:nvPr/>
        </p:nvSpPr>
        <p:spPr>
          <a:xfrm>
            <a:off x="457200" y="219096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lieux</a:t>
            </a:r>
            <a:endParaRPr lang="en-US" sz="900" dirty="0"/>
          </a:p>
        </p:txBody>
      </p:sp>
      <p:sp>
        <p:nvSpPr>
          <p:cNvPr id="44" name="Shape 13">
            <a:extLst>
              <a:ext uri="{FF2B5EF4-FFF2-40B4-BE49-F238E27FC236}">
                <a16:creationId xmlns:a16="http://schemas.microsoft.com/office/drawing/2014/main" id="{97337E80-EA11-A42D-BCC1-27B98C7869FF}"/>
              </a:ext>
            </a:extLst>
          </p:cNvPr>
          <p:cNvSpPr/>
          <p:nvPr/>
        </p:nvSpPr>
        <p:spPr>
          <a:xfrm>
            <a:off x="2514600" y="1843495"/>
            <a:ext cx="1920240" cy="548640"/>
          </a:xfrm>
          <a:prstGeom prst="rect">
            <a:avLst/>
          </a:prstGeom>
          <a:solidFill>
            <a:srgbClr val="4DB6A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5" name="Text 14">
            <a:extLst>
              <a:ext uri="{FF2B5EF4-FFF2-40B4-BE49-F238E27FC236}">
                <a16:creationId xmlns:a16="http://schemas.microsoft.com/office/drawing/2014/main" id="{EBDD032B-B024-9B17-9E99-BC514DFD6036}"/>
              </a:ext>
            </a:extLst>
          </p:cNvPr>
          <p:cNvSpPr/>
          <p:nvPr/>
        </p:nvSpPr>
        <p:spPr>
          <a:xfrm>
            <a:off x="2514600" y="1843495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1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Évènement</a:t>
            </a:r>
            <a:endParaRPr lang="en-US" sz="1300" dirty="0"/>
          </a:p>
        </p:txBody>
      </p:sp>
      <p:sp>
        <p:nvSpPr>
          <p:cNvPr id="46" name="Text 15">
            <a:extLst>
              <a:ext uri="{FF2B5EF4-FFF2-40B4-BE49-F238E27FC236}">
                <a16:creationId xmlns:a16="http://schemas.microsoft.com/office/drawing/2014/main" id="{DBBF0FD6-92A3-6206-4CB4-A953D4461DBD}"/>
              </a:ext>
            </a:extLst>
          </p:cNvPr>
          <p:cNvSpPr/>
          <p:nvPr/>
        </p:nvSpPr>
        <p:spPr>
          <a:xfrm>
            <a:off x="2514600" y="219096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1E23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Affichage des évènements</a:t>
            </a:r>
            <a:endParaRPr lang="en-US" sz="900" dirty="0"/>
          </a:p>
        </p:txBody>
      </p:sp>
      <p:sp>
        <p:nvSpPr>
          <p:cNvPr id="47" name="Shape 16">
            <a:extLst>
              <a:ext uri="{FF2B5EF4-FFF2-40B4-BE49-F238E27FC236}">
                <a16:creationId xmlns:a16="http://schemas.microsoft.com/office/drawing/2014/main" id="{A9CF1A78-346D-43A0-1FBD-49D685EE173A}"/>
              </a:ext>
            </a:extLst>
          </p:cNvPr>
          <p:cNvSpPr/>
          <p:nvPr/>
        </p:nvSpPr>
        <p:spPr>
          <a:xfrm>
            <a:off x="4572000" y="1843495"/>
            <a:ext cx="1920240" cy="548640"/>
          </a:xfrm>
          <a:prstGeom prst="rect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8" name="Text 17">
            <a:extLst>
              <a:ext uri="{FF2B5EF4-FFF2-40B4-BE49-F238E27FC236}">
                <a16:creationId xmlns:a16="http://schemas.microsoft.com/office/drawing/2014/main" id="{78EEDDE0-5D70-357B-B4F1-F611A94ECCAC}"/>
              </a:ext>
            </a:extLst>
          </p:cNvPr>
          <p:cNvSpPr/>
          <p:nvPr/>
        </p:nvSpPr>
        <p:spPr>
          <a:xfrm>
            <a:off x="4572000" y="1843495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</a:t>
            </a:r>
            <a:endParaRPr lang="en-US" sz="1300" dirty="0"/>
          </a:p>
        </p:txBody>
      </p:sp>
      <p:sp>
        <p:nvSpPr>
          <p:cNvPr id="49" name="Text 18">
            <a:extLst>
              <a:ext uri="{FF2B5EF4-FFF2-40B4-BE49-F238E27FC236}">
                <a16:creationId xmlns:a16="http://schemas.microsoft.com/office/drawing/2014/main" id="{9986B1B5-2E26-70A6-8C66-925DEBB32A0E}"/>
              </a:ext>
            </a:extLst>
          </p:cNvPr>
          <p:cNvSpPr/>
          <p:nvPr/>
        </p:nvSpPr>
        <p:spPr>
          <a:xfrm>
            <a:off x="4572000" y="219096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MapView + GPS</a:t>
            </a:r>
            <a:endParaRPr lang="en-US" sz="900" dirty="0"/>
          </a:p>
        </p:txBody>
      </p:sp>
      <p:sp>
        <p:nvSpPr>
          <p:cNvPr id="50" name="Shape 19">
            <a:extLst>
              <a:ext uri="{FF2B5EF4-FFF2-40B4-BE49-F238E27FC236}">
                <a16:creationId xmlns:a16="http://schemas.microsoft.com/office/drawing/2014/main" id="{15BA7DB6-4E5A-48A1-9ACF-60200B5A016A}"/>
              </a:ext>
            </a:extLst>
          </p:cNvPr>
          <p:cNvSpPr/>
          <p:nvPr/>
        </p:nvSpPr>
        <p:spPr>
          <a:xfrm>
            <a:off x="6629400" y="1843495"/>
            <a:ext cx="1920240" cy="548640"/>
          </a:xfrm>
          <a:prstGeom prst="rect">
            <a:avLst/>
          </a:prstGeom>
          <a:solidFill>
            <a:srgbClr val="E8950A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1" name="Text 20">
            <a:extLst>
              <a:ext uri="{FF2B5EF4-FFF2-40B4-BE49-F238E27FC236}">
                <a16:creationId xmlns:a16="http://schemas.microsoft.com/office/drawing/2014/main" id="{938A8F41-9BF1-CF23-A9CA-8530643FD712}"/>
              </a:ext>
            </a:extLst>
          </p:cNvPr>
          <p:cNvSpPr/>
          <p:nvPr/>
        </p:nvSpPr>
        <p:spPr>
          <a:xfrm>
            <a:off x="6629400" y="1843495"/>
            <a:ext cx="1920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300" dirty="0"/>
          </a:p>
        </p:txBody>
      </p:sp>
      <p:sp>
        <p:nvSpPr>
          <p:cNvPr id="52" name="Text 21">
            <a:extLst>
              <a:ext uri="{FF2B5EF4-FFF2-40B4-BE49-F238E27FC236}">
                <a16:creationId xmlns:a16="http://schemas.microsoft.com/office/drawing/2014/main" id="{E68970C1-6630-45A5-A623-A89E87A42716}"/>
              </a:ext>
            </a:extLst>
          </p:cNvPr>
          <p:cNvSpPr/>
          <p:nvPr/>
        </p:nvSpPr>
        <p:spPr>
          <a:xfrm>
            <a:off x="6629400" y="2190967"/>
            <a:ext cx="19202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+ Souvenirs</a:t>
            </a:r>
            <a:endParaRPr lang="en-US" sz="900" dirty="0"/>
          </a:p>
        </p:txBody>
      </p:sp>
      <p:sp>
        <p:nvSpPr>
          <p:cNvPr id="53" name="Shape 22">
            <a:extLst>
              <a:ext uri="{FF2B5EF4-FFF2-40B4-BE49-F238E27FC236}">
                <a16:creationId xmlns:a16="http://schemas.microsoft.com/office/drawing/2014/main" id="{32944112-464E-F26F-9AC6-1FCD938D77BD}"/>
              </a:ext>
            </a:extLst>
          </p:cNvPr>
          <p:cNvSpPr/>
          <p:nvPr/>
        </p:nvSpPr>
        <p:spPr>
          <a:xfrm>
            <a:off x="1417320" y="2392135"/>
            <a:ext cx="0" cy="27432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4" name="Shape 23">
            <a:extLst>
              <a:ext uri="{FF2B5EF4-FFF2-40B4-BE49-F238E27FC236}">
                <a16:creationId xmlns:a16="http://schemas.microsoft.com/office/drawing/2014/main" id="{D6A88F70-3DE9-7376-D18B-54E63BD0ABDF}"/>
              </a:ext>
            </a:extLst>
          </p:cNvPr>
          <p:cNvSpPr/>
          <p:nvPr/>
        </p:nvSpPr>
        <p:spPr>
          <a:xfrm>
            <a:off x="457200" y="2666455"/>
            <a:ext cx="1920240" cy="118872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55" name="Text 24">
            <a:extLst>
              <a:ext uri="{FF2B5EF4-FFF2-40B4-BE49-F238E27FC236}">
                <a16:creationId xmlns:a16="http://schemas.microsoft.com/office/drawing/2014/main" id="{78F390C9-8EBF-2C39-EB5B-F591EC85DB36}"/>
              </a:ext>
            </a:extLst>
          </p:cNvPr>
          <p:cNvSpPr/>
          <p:nvPr/>
        </p:nvSpPr>
        <p:spPr>
          <a:xfrm>
            <a:off x="548640" y="271217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DiscoveryScreen</a:t>
            </a:r>
            <a:endParaRPr lang="en-US" sz="1100" dirty="0"/>
          </a:p>
        </p:txBody>
      </p:sp>
      <p:sp>
        <p:nvSpPr>
          <p:cNvPr id="56" name="Text 25">
            <a:extLst>
              <a:ext uri="{FF2B5EF4-FFF2-40B4-BE49-F238E27FC236}">
                <a16:creationId xmlns:a16="http://schemas.microsoft.com/office/drawing/2014/main" id="{2E147F43-E9FF-D258-3830-704444F36F15}"/>
              </a:ext>
            </a:extLst>
          </p:cNvPr>
          <p:cNvSpPr/>
          <p:nvPr/>
        </p:nvSpPr>
        <p:spPr>
          <a:xfrm>
            <a:off x="548640" y="305964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</a:t>
            </a: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des </a:t>
            </a:r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lieux</a:t>
            </a:r>
            <a:endParaRPr lang="en-US" sz="1100" dirty="0"/>
          </a:p>
        </p:txBody>
      </p:sp>
      <p:sp>
        <p:nvSpPr>
          <p:cNvPr id="57" name="Text 26">
            <a:extLst>
              <a:ext uri="{FF2B5EF4-FFF2-40B4-BE49-F238E27FC236}">
                <a16:creationId xmlns:a16="http://schemas.microsoft.com/office/drawing/2014/main" id="{7FDBD0D9-C2A7-CF64-F909-702B0D33E450}"/>
              </a:ext>
            </a:extLst>
          </p:cNvPr>
          <p:cNvSpPr/>
          <p:nvPr/>
        </p:nvSpPr>
        <p:spPr>
          <a:xfrm>
            <a:off x="548640" y="340711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</a:t>
            </a:r>
            <a:endParaRPr lang="en-US" sz="1100" dirty="0">
              <a:solidFill>
                <a:srgbClr val="B0B8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</a:t>
            </a: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PlaceDetailScreen</a:t>
            </a: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58" name="Shape 27">
            <a:extLst>
              <a:ext uri="{FF2B5EF4-FFF2-40B4-BE49-F238E27FC236}">
                <a16:creationId xmlns:a16="http://schemas.microsoft.com/office/drawing/2014/main" id="{7D5BB32D-DFFF-BE1B-9170-33D35F384DAE}"/>
              </a:ext>
            </a:extLst>
          </p:cNvPr>
          <p:cNvSpPr/>
          <p:nvPr/>
        </p:nvSpPr>
        <p:spPr>
          <a:xfrm>
            <a:off x="3474720" y="2392135"/>
            <a:ext cx="0" cy="27432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59" name="Shape 28">
            <a:extLst>
              <a:ext uri="{FF2B5EF4-FFF2-40B4-BE49-F238E27FC236}">
                <a16:creationId xmlns:a16="http://schemas.microsoft.com/office/drawing/2014/main" id="{01CE06BF-7742-F148-77E0-76AF1712FFBA}"/>
              </a:ext>
            </a:extLst>
          </p:cNvPr>
          <p:cNvSpPr/>
          <p:nvPr/>
        </p:nvSpPr>
        <p:spPr>
          <a:xfrm>
            <a:off x="2514600" y="2666455"/>
            <a:ext cx="1920240" cy="118872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0" name="Text 29">
            <a:extLst>
              <a:ext uri="{FF2B5EF4-FFF2-40B4-BE49-F238E27FC236}">
                <a16:creationId xmlns:a16="http://schemas.microsoft.com/office/drawing/2014/main" id="{30C00609-8E3A-C4E4-537F-0416EC49675C}"/>
              </a:ext>
            </a:extLst>
          </p:cNvPr>
          <p:cNvSpPr/>
          <p:nvPr/>
        </p:nvSpPr>
        <p:spPr>
          <a:xfrm>
            <a:off x="2606040" y="271217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 err="1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EventsScreen</a:t>
            </a:r>
            <a:endParaRPr lang="en-US" sz="1100" dirty="0"/>
          </a:p>
        </p:txBody>
      </p:sp>
      <p:sp>
        <p:nvSpPr>
          <p:cNvPr id="61" name="Text 30">
            <a:extLst>
              <a:ext uri="{FF2B5EF4-FFF2-40B4-BE49-F238E27FC236}">
                <a16:creationId xmlns:a16="http://schemas.microsoft.com/office/drawing/2014/main" id="{D7AD9A67-A8B2-7F4C-0073-CBEEA55F1068}"/>
              </a:ext>
            </a:extLst>
          </p:cNvPr>
          <p:cNvSpPr/>
          <p:nvPr/>
        </p:nvSpPr>
        <p:spPr>
          <a:xfrm>
            <a:off x="2606040" y="305964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des évènements</a:t>
            </a:r>
            <a:endParaRPr lang="en-US" sz="1100" dirty="0"/>
          </a:p>
        </p:txBody>
      </p:sp>
      <p:sp>
        <p:nvSpPr>
          <p:cNvPr id="62" name="Text 31">
            <a:extLst>
              <a:ext uri="{FF2B5EF4-FFF2-40B4-BE49-F238E27FC236}">
                <a16:creationId xmlns:a16="http://schemas.microsoft.com/office/drawing/2014/main" id="{6AA1BEDD-7EFC-9E09-15AE-D9BD1B00A27F}"/>
              </a:ext>
            </a:extLst>
          </p:cNvPr>
          <p:cNvSpPr/>
          <p:nvPr/>
        </p:nvSpPr>
        <p:spPr>
          <a:xfrm>
            <a:off x="2606040" y="340711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intégré</a:t>
            </a:r>
            <a:endParaRPr lang="en-US" sz="1100" dirty="0">
              <a:solidFill>
                <a:srgbClr val="B0B8C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algn="ctr"/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Détail</a:t>
            </a: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(</a:t>
            </a:r>
            <a:r>
              <a:rPr lang="en-US" sz="1100" dirty="0" err="1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PlaceDetailScreen</a:t>
            </a: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)</a:t>
            </a:r>
            <a:endParaRPr lang="en-US" sz="1100" dirty="0"/>
          </a:p>
        </p:txBody>
      </p:sp>
      <p:sp>
        <p:nvSpPr>
          <p:cNvPr id="63" name="Shape 32">
            <a:extLst>
              <a:ext uri="{FF2B5EF4-FFF2-40B4-BE49-F238E27FC236}">
                <a16:creationId xmlns:a16="http://schemas.microsoft.com/office/drawing/2014/main" id="{2853AD08-C40A-0C95-5B2A-95BCFA4AB9D0}"/>
              </a:ext>
            </a:extLst>
          </p:cNvPr>
          <p:cNvSpPr/>
          <p:nvPr/>
        </p:nvSpPr>
        <p:spPr>
          <a:xfrm>
            <a:off x="5532120" y="2392135"/>
            <a:ext cx="0" cy="27432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4" name="Shape 33">
            <a:extLst>
              <a:ext uri="{FF2B5EF4-FFF2-40B4-BE49-F238E27FC236}">
                <a16:creationId xmlns:a16="http://schemas.microsoft.com/office/drawing/2014/main" id="{C4098FE0-0E4B-6222-C457-7E273DCA9C57}"/>
              </a:ext>
            </a:extLst>
          </p:cNvPr>
          <p:cNvSpPr/>
          <p:nvPr/>
        </p:nvSpPr>
        <p:spPr>
          <a:xfrm>
            <a:off x="4572000" y="2666455"/>
            <a:ext cx="1920240" cy="118872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5" name="Text 34">
            <a:extLst>
              <a:ext uri="{FF2B5EF4-FFF2-40B4-BE49-F238E27FC236}">
                <a16:creationId xmlns:a16="http://schemas.microsoft.com/office/drawing/2014/main" id="{A59CB382-024C-579E-4713-2AA8F706B90F}"/>
              </a:ext>
            </a:extLst>
          </p:cNvPr>
          <p:cNvSpPr/>
          <p:nvPr/>
        </p:nvSpPr>
        <p:spPr>
          <a:xfrm>
            <a:off x="4663440" y="271217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3D7FB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MapScreen</a:t>
            </a:r>
            <a:endParaRPr lang="en-US" sz="1100" dirty="0"/>
          </a:p>
        </p:txBody>
      </p:sp>
      <p:sp>
        <p:nvSpPr>
          <p:cNvPr id="66" name="Text 35">
            <a:extLst>
              <a:ext uri="{FF2B5EF4-FFF2-40B4-BE49-F238E27FC236}">
                <a16:creationId xmlns:a16="http://schemas.microsoft.com/office/drawing/2014/main" id="{D11B105A-862D-1874-0814-17BC12C7C2D8}"/>
              </a:ext>
            </a:extLst>
          </p:cNvPr>
          <p:cNvSpPr/>
          <p:nvPr/>
        </p:nvSpPr>
        <p:spPr>
          <a:xfrm>
            <a:off x="4663440" y="305964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react-native-maps</a:t>
            </a:r>
            <a:endParaRPr lang="en-US" sz="1100" dirty="0"/>
          </a:p>
        </p:txBody>
      </p:sp>
      <p:sp>
        <p:nvSpPr>
          <p:cNvPr id="67" name="Text 36">
            <a:extLst>
              <a:ext uri="{FF2B5EF4-FFF2-40B4-BE49-F238E27FC236}">
                <a16:creationId xmlns:a16="http://schemas.microsoft.com/office/drawing/2014/main" id="{F373BAD5-32B8-56A1-A1BA-673F0E502443}"/>
              </a:ext>
            </a:extLst>
          </p:cNvPr>
          <p:cNvSpPr/>
          <p:nvPr/>
        </p:nvSpPr>
        <p:spPr>
          <a:xfrm>
            <a:off x="4663440" y="340711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expo-location (GPS)</a:t>
            </a:r>
            <a:endParaRPr lang="en-US" sz="1100" dirty="0"/>
          </a:p>
        </p:txBody>
      </p:sp>
      <p:sp>
        <p:nvSpPr>
          <p:cNvPr id="68" name="Shape 37">
            <a:extLst>
              <a:ext uri="{FF2B5EF4-FFF2-40B4-BE49-F238E27FC236}">
                <a16:creationId xmlns:a16="http://schemas.microsoft.com/office/drawing/2014/main" id="{BF254E57-E6F0-F500-4C9C-13D88A794650}"/>
              </a:ext>
            </a:extLst>
          </p:cNvPr>
          <p:cNvSpPr/>
          <p:nvPr/>
        </p:nvSpPr>
        <p:spPr>
          <a:xfrm>
            <a:off x="7589520" y="2392135"/>
            <a:ext cx="0" cy="274320"/>
          </a:xfrm>
          <a:prstGeom prst="line">
            <a:avLst/>
          </a:prstGeom>
          <a:noFill/>
          <a:ln w="12700">
            <a:solidFill>
              <a:srgbClr val="B0B8C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69" name="Shape 38">
            <a:extLst>
              <a:ext uri="{FF2B5EF4-FFF2-40B4-BE49-F238E27FC236}">
                <a16:creationId xmlns:a16="http://schemas.microsoft.com/office/drawing/2014/main" id="{C0814DC4-6271-AF42-CD1F-73E80EF6B848}"/>
              </a:ext>
            </a:extLst>
          </p:cNvPr>
          <p:cNvSpPr/>
          <p:nvPr/>
        </p:nvSpPr>
        <p:spPr>
          <a:xfrm>
            <a:off x="6629400" y="2666455"/>
            <a:ext cx="1920240" cy="118872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0" name="Text 39">
            <a:extLst>
              <a:ext uri="{FF2B5EF4-FFF2-40B4-BE49-F238E27FC236}">
                <a16:creationId xmlns:a16="http://schemas.microsoft.com/office/drawing/2014/main" id="{6CAFA622-D3EA-1550-69FE-E60EA9D863F5}"/>
              </a:ext>
            </a:extLst>
          </p:cNvPr>
          <p:cNvSpPr/>
          <p:nvPr/>
        </p:nvSpPr>
        <p:spPr>
          <a:xfrm>
            <a:off x="6720840" y="2712175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b="1" dirty="0">
                <a:solidFill>
                  <a:srgbClr val="E895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ProfileScreen</a:t>
            </a:r>
            <a:endParaRPr lang="en-US" sz="1100" dirty="0"/>
          </a:p>
        </p:txBody>
      </p:sp>
      <p:sp>
        <p:nvSpPr>
          <p:cNvPr id="71" name="Text 40">
            <a:extLst>
              <a:ext uri="{FF2B5EF4-FFF2-40B4-BE49-F238E27FC236}">
                <a16:creationId xmlns:a16="http://schemas.microsoft.com/office/drawing/2014/main" id="{381E48EC-3C30-5303-EAC0-A63A6C2FD656}"/>
              </a:ext>
            </a:extLst>
          </p:cNvPr>
          <p:cNvSpPr/>
          <p:nvPr/>
        </p:nvSpPr>
        <p:spPr>
          <a:xfrm>
            <a:off x="6720840" y="3059647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expo-image-picker</a:t>
            </a:r>
            <a:endParaRPr lang="en-US" sz="1100" dirty="0"/>
          </a:p>
        </p:txBody>
      </p:sp>
      <p:sp>
        <p:nvSpPr>
          <p:cNvPr id="72" name="Text 41">
            <a:extLst>
              <a:ext uri="{FF2B5EF4-FFF2-40B4-BE49-F238E27FC236}">
                <a16:creationId xmlns:a16="http://schemas.microsoft.com/office/drawing/2014/main" id="{4BF21B15-E257-8C07-7444-EF186E52815F}"/>
              </a:ext>
            </a:extLst>
          </p:cNvPr>
          <p:cNvSpPr/>
          <p:nvPr/>
        </p:nvSpPr>
        <p:spPr>
          <a:xfrm>
            <a:off x="6720840" y="3407119"/>
            <a:ext cx="1737360" cy="320040"/>
          </a:xfrm>
          <a:prstGeom prst="rect">
            <a:avLst/>
          </a:prstGeom>
          <a:noFill/>
          <a:ln/>
        </p:spPr>
        <p:txBody>
          <a:bodyPr wrap="square" rtlCol="0" anchor="ctr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Decouverte - Paris Data + recherche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1645920" y="1005840"/>
            <a:ext cx="4114800" cy="384048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6" name="Text 4"/>
          <p:cNvSpPr/>
          <p:nvPr/>
        </p:nvSpPr>
        <p:spPr>
          <a:xfrm>
            <a:off x="1737360" y="105156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API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737360" y="1444752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Endpoint GET :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737360" y="169164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opendata.paris.fr/.../datasets/que-faire-a-paris-/records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737360" y="214884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utilisées :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1737360" y="2660904"/>
            <a:ext cx="3840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fr-FR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deux onglets utilisent la même API Paris Data.</a:t>
            </a:r>
          </a:p>
          <a:p>
            <a:endParaRPr lang="fr-FR" sz="700" dirty="0">
              <a:solidFill>
                <a:srgbClr val="FFFFFF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r>
              <a:rPr lang="fr-FR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différence :</a:t>
            </a:r>
          </a:p>
          <a:p>
            <a:r>
              <a:rPr lang="fr-FR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`Lieux` transforme les données de </a:t>
            </a:r>
            <a:r>
              <a:rPr lang="fr-FR" sz="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</a:t>
            </a:r>
            <a:r>
              <a:rPr lang="fr-FR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en `Place`, déduplique les lieux, et a un </a:t>
            </a:r>
            <a:r>
              <a:rPr lang="fr-FR" sz="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fallback</a:t>
            </a:r>
            <a:r>
              <a:rPr lang="fr-FR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local si le </a:t>
            </a:r>
            <a:r>
              <a:rPr lang="fr-FR" sz="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r>
              <a:rPr lang="fr-FR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échoue.</a:t>
            </a:r>
          </a:p>
          <a:p>
            <a:r>
              <a:rPr lang="fr-FR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- `Events` transforme les données en `</a:t>
            </a:r>
            <a:r>
              <a:rPr lang="fr-FR" sz="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EventItem</a:t>
            </a:r>
            <a:r>
              <a:rPr lang="fr-FR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`, garde les infos détaillées des événements, et renvoie juste une liste vide si le </a:t>
            </a:r>
            <a:r>
              <a:rPr lang="fr-FR" sz="700" dirty="0" err="1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</a:t>
            </a:r>
            <a:r>
              <a:rPr lang="fr-FR" sz="7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échoue.</a:t>
            </a:r>
          </a:p>
        </p:txBody>
      </p:sp>
      <p:sp>
        <p:nvSpPr>
          <p:cNvPr id="12" name="Text 10"/>
          <p:cNvSpPr/>
          <p:nvPr/>
        </p:nvSpPr>
        <p:spPr>
          <a:xfrm>
            <a:off x="1737360" y="3325803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Gestion du state 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737360" y="3310128"/>
            <a:ext cx="38404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PlacesContext + refresh + load more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FlatList + barre de recherche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LoadingState / ActivityIndicator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ErrorState + fallback local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035040" y="1005840"/>
            <a:ext cx="2743200" cy="384048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5" name="Text 13"/>
          <p:cNvSpPr/>
          <p:nvPr/>
        </p:nvSpPr>
        <p:spPr>
          <a:xfrm>
            <a:off x="6126480" y="105156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AnimatedPlaceCard + ecran detail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217920" y="1417320"/>
            <a:ext cx="2468880" cy="3291840"/>
          </a:xfrm>
          <a:prstGeom prst="rect">
            <a:avLst/>
          </a:prstGeom>
          <a:solidFill>
            <a:srgbClr val="1A202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7" name="Shape 15"/>
          <p:cNvSpPr/>
          <p:nvPr/>
        </p:nvSpPr>
        <p:spPr>
          <a:xfrm>
            <a:off x="6217920" y="1417320"/>
            <a:ext cx="2468880" cy="1097280"/>
          </a:xfrm>
          <a:prstGeom prst="rect">
            <a:avLst/>
          </a:prstGeom>
          <a:solidFill>
            <a:srgbClr val="2C487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8" name="Text 16"/>
          <p:cNvSpPr/>
          <p:nvPr/>
        </p:nvSpPr>
        <p:spPr>
          <a:xfrm>
            <a:off x="6217920" y="1417320"/>
            <a:ext cx="24688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Carte decouverte ]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309360" y="260604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 culturel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6309360" y="292608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Adresse issue de Paris Data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291840"/>
            <a:ext cx="1371600" cy="320040"/>
          </a:xfrm>
          <a:prstGeom prst="rect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20"/>
          <p:cNvSpPr/>
          <p:nvPr/>
        </p:nvSpPr>
        <p:spPr>
          <a:xfrm>
            <a:off x="6309360" y="329184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Voir le detail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309360" y="3703320"/>
            <a:ext cx="21945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Composants reutilisables + UI coherente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Evenements &amp; carte interactive</a:t>
            </a:r>
            <a:endParaRPr lang="en-US" sz="28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32320" y="228600"/>
            <a:ext cx="548640" cy="548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645920" y="1005840"/>
            <a:ext cx="3840480" cy="384048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7" name="Text 4"/>
          <p:cNvSpPr/>
          <p:nvPr/>
        </p:nvSpPr>
        <p:spPr>
          <a:xfrm>
            <a:off x="1737360" y="105156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Implémentation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463040"/>
            <a:ext cx="356616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MapView natif + liste evenements Paris Data
</a:t>
            </a: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Centrage par défaut :
</a:t>
            </a: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Paris par defaut puis recentrage utilisateur
</a:t>
            </a: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Marqueurs dynamiques :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Lieux charges dynamiquement + pagination
Jusqu a 200 points affiches sur la carte
</a:t>
            </a:r>
            <a:r>
              <a:rPr lang="en-US" sz="12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Interactions :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Marqueurs de lieux + souvenirs photo geolocalises
</a:t>
            </a:r>
            <a:r>
              <a:rPr lang="en-US" sz="1200" b="1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Evenements :
</a:t>
            </a: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Liste avec recherche, image, date et lien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Donnees issues du dataset Paris Data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669280" y="1005840"/>
            <a:ext cx="3200400" cy="3840480"/>
          </a:xfrm>
          <a:prstGeom prst="rect">
            <a:avLst/>
          </a:prstGeom>
          <a:solidFill>
            <a:srgbClr val="1B3A5C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10" name="Shape 7"/>
          <p:cNvSpPr/>
          <p:nvPr/>
        </p:nvSpPr>
        <p:spPr>
          <a:xfrm>
            <a:off x="5669280" y="1005840"/>
            <a:ext cx="3200400" cy="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1" name="Shape 8"/>
          <p:cNvSpPr/>
          <p:nvPr/>
        </p:nvSpPr>
        <p:spPr>
          <a:xfrm>
            <a:off x="5669280" y="1645920"/>
            <a:ext cx="3200400" cy="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2" name="Shape 9"/>
          <p:cNvSpPr/>
          <p:nvPr/>
        </p:nvSpPr>
        <p:spPr>
          <a:xfrm>
            <a:off x="5669280" y="2286000"/>
            <a:ext cx="3200400" cy="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3" name="Shape 10"/>
          <p:cNvSpPr/>
          <p:nvPr/>
        </p:nvSpPr>
        <p:spPr>
          <a:xfrm>
            <a:off x="5669280" y="2926080"/>
            <a:ext cx="3200400" cy="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4" name="Shape 11"/>
          <p:cNvSpPr/>
          <p:nvPr/>
        </p:nvSpPr>
        <p:spPr>
          <a:xfrm>
            <a:off x="5669280" y="3566160"/>
            <a:ext cx="3200400" cy="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5" name="Shape 12"/>
          <p:cNvSpPr/>
          <p:nvPr/>
        </p:nvSpPr>
        <p:spPr>
          <a:xfrm>
            <a:off x="5669280" y="4206240"/>
            <a:ext cx="3200400" cy="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6" name="Shape 13"/>
          <p:cNvSpPr/>
          <p:nvPr/>
        </p:nvSpPr>
        <p:spPr>
          <a:xfrm>
            <a:off x="5669280" y="1005840"/>
            <a:ext cx="0" cy="384048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7" name="Shape 14"/>
          <p:cNvSpPr/>
          <p:nvPr/>
        </p:nvSpPr>
        <p:spPr>
          <a:xfrm>
            <a:off x="6309360" y="1005840"/>
            <a:ext cx="0" cy="384048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8" name="Shape 15"/>
          <p:cNvSpPr/>
          <p:nvPr/>
        </p:nvSpPr>
        <p:spPr>
          <a:xfrm>
            <a:off x="6949440" y="1005840"/>
            <a:ext cx="0" cy="384048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19" name="Shape 16"/>
          <p:cNvSpPr/>
          <p:nvPr/>
        </p:nvSpPr>
        <p:spPr>
          <a:xfrm>
            <a:off x="7589520" y="1005840"/>
            <a:ext cx="0" cy="384048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0" name="Shape 17"/>
          <p:cNvSpPr/>
          <p:nvPr/>
        </p:nvSpPr>
        <p:spPr>
          <a:xfrm>
            <a:off x="8229600" y="1005840"/>
            <a:ext cx="0" cy="3840480"/>
          </a:xfrm>
          <a:prstGeom prst="line">
            <a:avLst/>
          </a:prstGeom>
          <a:noFill/>
          <a:ln w="12700">
            <a:solidFill>
              <a:srgbClr val="2A507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1" name="Shape 18"/>
          <p:cNvSpPr/>
          <p:nvPr/>
        </p:nvSpPr>
        <p:spPr>
          <a:xfrm>
            <a:off x="5943600" y="2286000"/>
            <a:ext cx="2743200" cy="274320"/>
          </a:xfrm>
          <a:prstGeom prst="line">
            <a:avLst/>
          </a:prstGeom>
          <a:noFill/>
          <a:ln w="38100">
            <a:solidFill>
              <a:srgbClr val="3A6A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2" name="Shape 19"/>
          <p:cNvSpPr/>
          <p:nvPr/>
        </p:nvSpPr>
        <p:spPr>
          <a:xfrm>
            <a:off x="6858000" y="1188720"/>
            <a:ext cx="457200" cy="3200400"/>
          </a:xfrm>
          <a:prstGeom prst="line">
            <a:avLst/>
          </a:prstGeom>
          <a:noFill/>
          <a:ln w="38100">
            <a:solidFill>
              <a:srgbClr val="3A6A90"/>
            </a:solidFill>
            <a:prstDash val="solid"/>
          </a:ln>
        </p:spPr>
        <p:txBody>
          <a:bodyPr/>
          <a:lstStyle/>
          <a:p>
            <a:endParaRPr lang="fr-FR"/>
          </a:p>
        </p:txBody>
      </p:sp>
      <p:sp>
        <p:nvSpPr>
          <p:cNvPr id="23" name="Shape 20"/>
          <p:cNvSpPr/>
          <p:nvPr/>
        </p:nvSpPr>
        <p:spPr>
          <a:xfrm>
            <a:off x="6675120" y="1737360"/>
            <a:ext cx="182880" cy="182880"/>
          </a:xfrm>
          <a:prstGeom prst="ellips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4" name="Shape 21"/>
          <p:cNvSpPr/>
          <p:nvPr/>
        </p:nvSpPr>
        <p:spPr>
          <a:xfrm>
            <a:off x="7132320" y="2377440"/>
            <a:ext cx="182880" cy="182880"/>
          </a:xfrm>
          <a:prstGeom prst="ellips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5" name="Shape 22"/>
          <p:cNvSpPr/>
          <p:nvPr/>
        </p:nvSpPr>
        <p:spPr>
          <a:xfrm>
            <a:off x="6217920" y="2926080"/>
            <a:ext cx="182880" cy="182880"/>
          </a:xfrm>
          <a:prstGeom prst="ellips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6" name="Shape 23"/>
          <p:cNvSpPr/>
          <p:nvPr/>
        </p:nvSpPr>
        <p:spPr>
          <a:xfrm>
            <a:off x="7498080" y="3200400"/>
            <a:ext cx="182880" cy="182880"/>
          </a:xfrm>
          <a:prstGeom prst="ellips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7" name="Shape 24"/>
          <p:cNvSpPr/>
          <p:nvPr/>
        </p:nvSpPr>
        <p:spPr>
          <a:xfrm>
            <a:off x="6400800" y="4114800"/>
            <a:ext cx="182880" cy="182880"/>
          </a:xfrm>
          <a:prstGeom prst="ellips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8" name="Text 25"/>
          <p:cNvSpPr/>
          <p:nvPr/>
        </p:nvSpPr>
        <p:spPr>
          <a:xfrm>
            <a:off x="5669280" y="4526280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mobile + fallback web OpenStreetMap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Profil, souvenirs &amp; persistance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0" y="1005840"/>
            <a:ext cx="3474720" cy="384048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7360" y="105156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19456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Calendrier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737360" y="1508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 : react-native-calendars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Intégration :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Accessible depuis l ecran detail d un lieu
selection et relecture au prochain lancement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Selection d une date de visite
Persistance via AsyncStorage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Confirmation :
</a:t>
            </a: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enregistree pour chaque lieu
et affichee au retour sur la fiche
</a:t>
            </a:r>
            <a:r>
              <a:rPr lang="en-US" sz="1200" b="1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:
</a:t>
            </a: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Dates planifiees conservees localement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394960" y="1005840"/>
            <a:ext cx="3474720" cy="384048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86400" y="1051560"/>
            <a:ext cx="365760" cy="36576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943600" y="109728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4DB6A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 / souvenirs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5486400" y="1508760"/>
            <a:ext cx="3200400" cy="3200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Librairies : expo-image-picker + expo-location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Ecran : Profil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: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Camera, galerie et position
si autorisees par l utilisateur
</a:t>
            </a: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Fonctionnement :
</a:t>
            </a: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Photo de profil + ajout de souvenirs
Chaque photo peut enregistrer sa localisation
et etre supprimee ensuite
</a:t>
            </a:r>
            <a:r>
              <a:rPr lang="en-US" sz="1200" b="1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:
</a:t>
            </a: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Avatar et bibliotheque sauvegardes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 les sessions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a fait en plus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1645920" y="1005840"/>
            <a:ext cx="3657600" cy="164592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83080" y="114300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0" y="1115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Onglet Evenements complet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783080" y="16002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plus des lieux, on affiche aussi les evenements Paris Data avec recherche et lien externe.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5577840" y="1005840"/>
            <a:ext cx="3657600" cy="164592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0" y="1143000"/>
            <a:ext cx="411480" cy="41148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217920" y="11155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Carnet de souvenirs geolocalises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715000" y="16002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Plusieurs photos souvenir avec localisation, apercu, suppression et affichage sur la carte.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1645920" y="2834640"/>
            <a:ext cx="3657600" cy="164592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83080" y="2971800"/>
            <a:ext cx="411480" cy="411480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2286000" y="29443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Persistance etendue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783080" y="34290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AsyncStorage ne sert pas seulement au profil : dates, avatar et souvenirs sont conserves.</a:t>
            </a:r>
            <a:endParaRPr lang="en-US" sz="1200" dirty="0"/>
          </a:p>
        </p:txBody>
      </p:sp>
      <p:sp>
        <p:nvSpPr>
          <p:cNvPr id="17" name="Shape 12"/>
          <p:cNvSpPr/>
          <p:nvPr/>
        </p:nvSpPr>
        <p:spPr>
          <a:xfrm>
            <a:off x="5577840" y="2834640"/>
            <a:ext cx="3657600" cy="164592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0" y="2971800"/>
            <a:ext cx="411480" cy="41148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6217920" y="2944368"/>
            <a:ext cx="2926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Pagination + fallback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5715000" y="3429000"/>
            <a:ext cx="33832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Chargement progressif, donnees locales de secours et gestion d erreur plus robuste.</a:t>
            </a:r>
            <a:endParaRPr lang="en-US" sz="1200" dirty="0"/>
          </a:p>
        </p:txBody>
      </p:sp>
      <p:sp>
        <p:nvSpPr>
          <p:cNvPr id="21" name="Shape 15"/>
          <p:cNvSpPr/>
          <p:nvPr/>
        </p:nvSpPr>
        <p:spPr>
          <a:xfrm>
            <a:off x="1645920" y="4663440"/>
            <a:ext cx="7315200" cy="320040"/>
          </a:xfrm>
          <a:prstGeom prst="rect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22" name="Text 16"/>
          <p:cNvSpPr/>
          <p:nvPr/>
        </p:nvSpPr>
        <p:spPr>
          <a:xfrm>
            <a:off x="1645920" y="46634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Support web avec alternative OpenStreetMap + projet structure en TypeScript.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1645920" y="27432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Demo &amp; bilan</a:t>
            </a:r>
            <a:endParaRPr lang="en-US" sz="3000" dirty="0"/>
          </a:p>
        </p:txBody>
      </p:sp>
      <p:sp>
        <p:nvSpPr>
          <p:cNvPr id="27" name="Shape 24"/>
          <p:cNvSpPr/>
          <p:nvPr/>
        </p:nvSpPr>
        <p:spPr>
          <a:xfrm>
            <a:off x="1645920" y="2080260"/>
            <a:ext cx="7132320" cy="457200"/>
          </a:xfrm>
          <a:prstGeom prst="rect">
            <a:avLst/>
          </a:prstGeom>
          <a:solidFill>
            <a:srgbClr val="2A3038"/>
          </a:solidFill>
          <a:ln/>
        </p:spPr>
        <p:txBody>
          <a:bodyPr/>
          <a:lstStyle/>
          <a:p>
            <a:endParaRPr lang="fr-FR"/>
          </a:p>
        </p:txBody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5361" y="2171700"/>
            <a:ext cx="274320" cy="274320"/>
          </a:xfrm>
          <a:prstGeom prst="rect">
            <a:avLst/>
          </a:prstGeom>
        </p:spPr>
      </p:pic>
      <p:sp>
        <p:nvSpPr>
          <p:cNvPr id="29" name="Text 25"/>
          <p:cNvSpPr/>
          <p:nvPr/>
        </p:nvSpPr>
        <p:spPr>
          <a:xfrm>
            <a:off x="2103120" y="2153412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github.com/theohugo/urban-explorer</a:t>
            </a:r>
            <a:endParaRPr lang="en-US" sz="1400" dirty="0"/>
          </a:p>
        </p:txBody>
      </p:sp>
      <p:sp>
        <p:nvSpPr>
          <p:cNvPr id="30" name="Text 26"/>
          <p:cNvSpPr/>
          <p:nvPr/>
        </p:nvSpPr>
        <p:spPr>
          <a:xfrm>
            <a:off x="1645920" y="44074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Points de la demo :</a:t>
            </a:r>
            <a:endParaRPr lang="en-US" sz="1300" dirty="0"/>
          </a:p>
        </p:txBody>
      </p:sp>
      <p:sp>
        <p:nvSpPr>
          <p:cNvPr id="31" name="Shape 27"/>
          <p:cNvSpPr/>
          <p:nvPr/>
        </p:nvSpPr>
        <p:spPr>
          <a:xfrm>
            <a:off x="1645920" y="4709160"/>
            <a:ext cx="164592" cy="164592"/>
          </a:xfrm>
          <a:prstGeom prst="ellips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2" name="Text 28"/>
          <p:cNvSpPr/>
          <p:nvPr/>
        </p:nvSpPr>
        <p:spPr>
          <a:xfrm>
            <a:off x="1874520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Decouverte + recherche</a:t>
            </a:r>
            <a:endParaRPr lang="en-US" sz="1100" dirty="0"/>
          </a:p>
        </p:txBody>
      </p:sp>
      <p:sp>
        <p:nvSpPr>
          <p:cNvPr id="33" name="Shape 29"/>
          <p:cNvSpPr/>
          <p:nvPr/>
        </p:nvSpPr>
        <p:spPr>
          <a:xfrm>
            <a:off x="3474720" y="4709160"/>
            <a:ext cx="164592" cy="164592"/>
          </a:xfrm>
          <a:prstGeom prst="ellips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4" name="Text 30"/>
          <p:cNvSpPr/>
          <p:nvPr/>
        </p:nvSpPr>
        <p:spPr>
          <a:xfrm>
            <a:off x="3703320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Evenements Paris Data</a:t>
            </a:r>
            <a:endParaRPr lang="en-US" sz="1100" dirty="0"/>
          </a:p>
        </p:txBody>
      </p:sp>
      <p:sp>
        <p:nvSpPr>
          <p:cNvPr id="35" name="Shape 31"/>
          <p:cNvSpPr/>
          <p:nvPr/>
        </p:nvSpPr>
        <p:spPr>
          <a:xfrm>
            <a:off x="5303520" y="4709160"/>
            <a:ext cx="164592" cy="164592"/>
          </a:xfrm>
          <a:prstGeom prst="ellips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6" name="Text 32"/>
          <p:cNvSpPr/>
          <p:nvPr/>
        </p:nvSpPr>
        <p:spPr>
          <a:xfrm>
            <a:off x="5532120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Carte avec position + souvenirs</a:t>
            </a:r>
            <a:endParaRPr lang="en-US" sz="1100" dirty="0"/>
          </a:p>
        </p:txBody>
      </p:sp>
      <p:sp>
        <p:nvSpPr>
          <p:cNvPr id="37" name="Shape 33"/>
          <p:cNvSpPr/>
          <p:nvPr/>
        </p:nvSpPr>
        <p:spPr>
          <a:xfrm>
            <a:off x="7132320" y="4709160"/>
            <a:ext cx="164592" cy="164592"/>
          </a:xfrm>
          <a:prstGeom prst="ellips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8" name="Text 34"/>
          <p:cNvSpPr/>
          <p:nvPr/>
        </p:nvSpPr>
        <p:spPr>
          <a:xfrm>
            <a:off x="7360920" y="46634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Planification et profil persistants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E232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" y="-274320"/>
            <a:ext cx="1463040" cy="1645920"/>
          </a:xfrm>
          <a:prstGeom prst="triangle">
            <a:avLst/>
          </a:prstGeom>
          <a:solidFill>
            <a:srgbClr val="3D7FBF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3" name="Shape 1"/>
          <p:cNvSpPr/>
          <p:nvPr/>
        </p:nvSpPr>
        <p:spPr>
          <a:xfrm>
            <a:off x="91440" y="-274320"/>
            <a:ext cx="1188720" cy="1371600"/>
          </a:xfrm>
          <a:prstGeom prst="triangle">
            <a:avLst/>
          </a:prstGeom>
          <a:solidFill>
            <a:srgbClr val="90C8A0"/>
          </a:solidFill>
          <a:ln/>
        </p:spPr>
        <p:txBody>
          <a:bodyPr/>
          <a:lstStyle/>
          <a:p>
            <a:endParaRPr lang="fr-FR"/>
          </a:p>
        </p:txBody>
      </p:sp>
      <p:sp>
        <p:nvSpPr>
          <p:cNvPr id="4" name="Text 2"/>
          <p:cNvSpPr/>
          <p:nvPr/>
        </p:nvSpPr>
        <p:spPr>
          <a:xfrm>
            <a:off x="2743200" y="1371600"/>
            <a:ext cx="6400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6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Merci !</a:t>
            </a:r>
            <a:endParaRPr lang="en-US" sz="6400" dirty="0"/>
          </a:p>
        </p:txBody>
      </p:sp>
      <p:sp>
        <p:nvSpPr>
          <p:cNvPr id="5" name="Text 3"/>
          <p:cNvSpPr/>
          <p:nvPr/>
        </p:nvSpPr>
        <p:spPr>
          <a:xfrm>
            <a:off x="2743200" y="2468880"/>
            <a:ext cx="4572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dirty="0">
                <a:solidFill>
                  <a:srgbClr val="90C8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?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2743200" y="338328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Urban Explorer - TP Final React Native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2743200" y="3840480"/>
            <a:ext cx="6400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B0B8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RAGUIN Hugo  •  FIORESE Elliot  •  TALEB Amine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739</Words>
  <Application>Microsoft Office PowerPoint</Application>
  <PresentationFormat>Affichage à l'écran (16:9)</PresentationFormat>
  <Paragraphs>131</Paragraphs>
  <Slides>11</Slides>
  <Notes>11</Notes>
  <HiddenSlides>0</HiddenSlides>
  <MMClips>0</MMClips>
  <ScaleCrop>false</ScaleCrop>
  <HeadingPairs>
    <vt:vector size="6" baseType="variant">
      <vt:variant>
        <vt:lpstr>Polices utilisées</vt:lpstr>
      </vt:variant>
      <vt:variant>
        <vt:i4>2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Urban Explorer - TP Final React Native</dc:title>
  <dc:subject>PptxGenJS Presentation</dc:subject>
  <dc:creator>PptxGenJS</dc:creator>
  <cp:lastModifiedBy>Hugo Raguin</cp:lastModifiedBy>
  <cp:revision>9</cp:revision>
  <dcterms:created xsi:type="dcterms:W3CDTF">2026-03-13T08:47:41Z</dcterms:created>
  <dcterms:modified xsi:type="dcterms:W3CDTF">2026-03-13T09:24:08Z</dcterms:modified>
</cp:coreProperties>
</file>